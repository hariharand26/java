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5143500" cx="9144000"/>
  <p:notesSz cx="5143500" cy="9144000"/>
  <p:defaultTextStyle>
    <a:defPPr lvl="0"/>
    <a:lvl1pPr defTabSz="9144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9144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9144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9144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9144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9144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9144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9144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9144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1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"/>
          <p:cNvSpPr/>
          <p:nvPr/>
        </p:nvSpPr>
        <p:spPr>
          <a:xfrm>
            <a:off x="0" y="0"/>
            <a:ext cx="164700" cy="51435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"/>
          <p:cNvSpPr/>
          <p:nvPr/>
        </p:nvSpPr>
        <p:spPr>
          <a:xfrm>
            <a:off x="164592" y="0"/>
            <a:ext cx="8979300" cy="63900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"/>
          <p:cNvSpPr/>
          <p:nvPr/>
        </p:nvSpPr>
        <p:spPr>
          <a:xfrm>
            <a:off x="164592" y="5079492"/>
            <a:ext cx="8979300" cy="639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"/>
          <p:cNvSpPr/>
          <p:nvPr/>
        </p:nvSpPr>
        <p:spPr>
          <a:xfrm>
            <a:off x="365760" y="164592"/>
            <a:ext cx="8412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KG College of Arts and Science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1"/>
          <p:cNvSpPr/>
          <p:nvPr/>
        </p:nvSpPr>
        <p:spPr>
          <a:xfrm>
            <a:off x="365760" y="685800"/>
            <a:ext cx="84126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Salary Payroll Processing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"/>
          <p:cNvSpPr/>
          <p:nvPr/>
        </p:nvSpPr>
        <p:spPr>
          <a:xfrm>
            <a:off x="365760" y="1417320"/>
            <a:ext cx="8412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&amp; Payslip Generation System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1"/>
          <p:cNvSpPr/>
          <p:nvPr/>
        </p:nvSpPr>
        <p:spPr>
          <a:xfrm>
            <a:off x="365760" y="2212848"/>
            <a:ext cx="3200400" cy="4560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"/>
          <p:cNvSpPr/>
          <p:nvPr/>
        </p:nvSpPr>
        <p:spPr>
          <a:xfrm>
            <a:off x="365760" y="2377440"/>
            <a:ext cx="6400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Java Capstone Project  |  April 2026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1"/>
          <p:cNvSpPr/>
          <p:nvPr/>
        </p:nvSpPr>
        <p:spPr>
          <a:xfrm>
            <a:off x="365760" y="2834640"/>
            <a:ext cx="4023300" cy="1371600"/>
          </a:xfrm>
          <a:prstGeom prst="rect">
            <a:avLst/>
          </a:prstGeom>
          <a:solidFill>
            <a:srgbClr val="13243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"/>
          <p:cNvSpPr/>
          <p:nvPr/>
        </p:nvSpPr>
        <p:spPr>
          <a:xfrm>
            <a:off x="502920" y="2926080"/>
            <a:ext cx="37491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Presented by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HARIHARAN D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Register No: </a:t>
            </a:r>
            <a:r>
              <a:rPr lang="en-US" sz="1100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25BCS115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Guided by: </a:t>
            </a:r>
            <a:r>
              <a:rPr lang="en-US" sz="1100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ARAVIND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"/>
          <p:cNvSpPr/>
          <p:nvPr/>
        </p:nvSpPr>
        <p:spPr>
          <a:xfrm>
            <a:off x="4846320" y="3017520"/>
            <a:ext cx="1051500" cy="1051500"/>
          </a:xfrm>
          <a:prstGeom prst="ellipse">
            <a:avLst/>
          </a:prstGeom>
          <a:solidFill>
            <a:srgbClr val="0D9488">
              <a:alpha val="80000"/>
            </a:srgbClr>
          </a:solidFill>
          <a:ln cap="flat" cmpd="sng" w="1905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"/>
          <p:cNvSpPr/>
          <p:nvPr/>
        </p:nvSpPr>
        <p:spPr>
          <a:xfrm>
            <a:off x="4846320" y="3364992"/>
            <a:ext cx="1051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Core Java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"/>
          <p:cNvSpPr/>
          <p:nvPr/>
        </p:nvSpPr>
        <p:spPr>
          <a:xfrm>
            <a:off x="6080760" y="3017520"/>
            <a:ext cx="1051500" cy="1051500"/>
          </a:xfrm>
          <a:prstGeom prst="ellipse">
            <a:avLst/>
          </a:prstGeom>
          <a:solidFill>
            <a:srgbClr val="0D9488">
              <a:alpha val="80000"/>
            </a:srgbClr>
          </a:solidFill>
          <a:ln cap="flat" cmpd="sng" w="1905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"/>
          <p:cNvSpPr/>
          <p:nvPr/>
        </p:nvSpPr>
        <p:spPr>
          <a:xfrm>
            <a:off x="6080760" y="3364992"/>
            <a:ext cx="1051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OOP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7315200" y="3017520"/>
            <a:ext cx="1051500" cy="1051500"/>
          </a:xfrm>
          <a:prstGeom prst="ellipse">
            <a:avLst/>
          </a:prstGeom>
          <a:solidFill>
            <a:srgbClr val="0D9488">
              <a:alpha val="80000"/>
            </a:srgbClr>
          </a:solidFill>
          <a:ln cap="flat" cmpd="sng" w="1905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"/>
          <p:cNvSpPr/>
          <p:nvPr/>
        </p:nvSpPr>
        <p:spPr>
          <a:xfrm>
            <a:off x="7315200" y="3364992"/>
            <a:ext cx="1051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Console App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"/>
          <p:cNvSpPr/>
          <p:nvPr/>
        </p:nvSpPr>
        <p:spPr>
          <a:xfrm>
            <a:off x="365760" y="4572000"/>
            <a:ext cx="8412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Semester I  |  Academic Year 2025–2026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0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201168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2697480"/>
            <a:ext cx="18288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834640" y="365760"/>
            <a:ext cx="59436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834640" y="365760"/>
            <a:ext cx="502920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834640" y="365760"/>
            <a:ext cx="502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429000" y="438912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834640" y="914400"/>
            <a:ext cx="5943600" cy="438912"/>
          </a:xfrm>
          <a:prstGeom prst="rect">
            <a:avLst/>
          </a:prstGeom>
          <a:solidFill>
            <a:srgbClr val="E8F4F8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834640" y="914400"/>
            <a:ext cx="502920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34640" y="914400"/>
            <a:ext cx="502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29000" y="987552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834640" y="1463040"/>
            <a:ext cx="59436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834640" y="1463040"/>
            <a:ext cx="502920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34640" y="1463040"/>
            <a:ext cx="502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29000" y="1536192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Modules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834640" y="2011680"/>
            <a:ext cx="5943600" cy="438912"/>
          </a:xfrm>
          <a:prstGeom prst="rect">
            <a:avLst/>
          </a:prstGeom>
          <a:solidFill>
            <a:srgbClr val="E8F4F8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834640" y="2011680"/>
            <a:ext cx="502920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834640" y="2011680"/>
            <a:ext cx="502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429000" y="2084832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Calculation Logic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834640" y="2560320"/>
            <a:ext cx="59436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834640" y="2560320"/>
            <a:ext cx="502920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834640" y="2560320"/>
            <a:ext cx="502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429000" y="2633472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&amp; Flowchart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834640" y="3108960"/>
            <a:ext cx="5943600" cy="438912"/>
          </a:xfrm>
          <a:prstGeom prst="rect">
            <a:avLst/>
          </a:prstGeom>
          <a:solidFill>
            <a:srgbClr val="E8F4F8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834640" y="3108960"/>
            <a:ext cx="502920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834640" y="3108960"/>
            <a:ext cx="502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429000" y="3182112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Code Highlights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2834640" y="3657600"/>
            <a:ext cx="59436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834640" y="3657600"/>
            <a:ext cx="502920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834640" y="3657600"/>
            <a:ext cx="502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429000" y="3730752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&amp; Payslip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2834640" y="4206240"/>
            <a:ext cx="5943600" cy="438912"/>
          </a:xfrm>
          <a:prstGeom prst="rect">
            <a:avLst/>
          </a:prstGeom>
          <a:solidFill>
            <a:srgbClr val="E8F4F8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2834640" y="4206240"/>
            <a:ext cx="502920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834640" y="4206240"/>
            <a:ext cx="502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429000" y="4279392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Scope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|  Introduction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41148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14400"/>
            <a:ext cx="41148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058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Payroll System?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417320"/>
            <a:ext cx="38862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payroll system automates the process of calculating employee salaries, managing allowances and deductions, and generating payslips.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Java project simulates a real-world payroll system for an organization.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accepts employee data, computes salary components, and generates formatted payslips.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914400"/>
            <a:ext cx="420624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914400"/>
            <a:ext cx="420624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0058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Project?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54880" y="1508760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47488" y="148132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payroll is error-prone and slow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54880" y="2039112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47488" y="201168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application of allowances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2569464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47488" y="254203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standardized payslip formats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54880" y="3099816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47488" y="307238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Time-consuming for HR departments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54880" y="3630168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47488" y="360273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 to scale with more employees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|  Problem Statement &amp; Objectives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9144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 with Manual Payroll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325880"/>
            <a:ext cx="4114800" cy="457200"/>
          </a:xfrm>
          <a:prstGeom prst="rect">
            <a:avLst/>
          </a:prstGeom>
          <a:solidFill>
            <a:srgbClr val="FEF2F2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37160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Calculation errors in salary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892808"/>
            <a:ext cx="4114800" cy="457200"/>
          </a:xfrm>
          <a:prstGeom prst="rect">
            <a:avLst/>
          </a:prstGeom>
          <a:solidFill>
            <a:srgbClr val="FEF2F2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93852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Slow, time-consuming process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2459736"/>
            <a:ext cx="4114800" cy="457200"/>
          </a:xfrm>
          <a:prstGeom prst="rect">
            <a:avLst/>
          </a:prstGeom>
          <a:solidFill>
            <a:srgbClr val="FEF2F2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505456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No standard payslip format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3026664"/>
            <a:ext cx="4114800" cy="457200"/>
          </a:xfrm>
          <a:prstGeom prst="rect">
            <a:avLst/>
          </a:prstGeom>
          <a:solidFill>
            <a:srgbClr val="FEF2F2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3072384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Hard to manage multiple employees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3593592"/>
            <a:ext cx="4114800" cy="457200"/>
          </a:xfrm>
          <a:prstGeom prst="rect">
            <a:avLst/>
          </a:prstGeom>
          <a:solidFill>
            <a:srgbClr val="FEF2F2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363931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Inconsistent deduction application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63440" y="91440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663440" y="1325880"/>
            <a:ext cx="4206240" cy="457200"/>
          </a:xfrm>
          <a:prstGeom prst="rect">
            <a:avLst/>
          </a:prstGeom>
          <a:solidFill>
            <a:srgbClr val="F0FDF4"/>
          </a:solidFill>
          <a:ln w="6350">
            <a:solidFill>
              <a:srgbClr val="86EFA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137160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Automate salary computation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63440" y="1892808"/>
            <a:ext cx="4206240" cy="457200"/>
          </a:xfrm>
          <a:prstGeom prst="rect">
            <a:avLst/>
          </a:prstGeom>
          <a:solidFill>
            <a:srgbClr val="F0FDF4"/>
          </a:solidFill>
          <a:ln w="6350">
            <a:solidFill>
              <a:srgbClr val="86EFA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193852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Apply standard HRA, DA, TA, PF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663440" y="2459736"/>
            <a:ext cx="4206240" cy="457200"/>
          </a:xfrm>
          <a:prstGeom prst="rect">
            <a:avLst/>
          </a:prstGeom>
          <a:solidFill>
            <a:srgbClr val="F0FDF4"/>
          </a:solidFill>
          <a:ln w="6350">
            <a:solidFill>
              <a:srgbClr val="86EFA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2505456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Generate structured payslips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63440" y="3026664"/>
            <a:ext cx="4206240" cy="457200"/>
          </a:xfrm>
          <a:prstGeom prst="rect">
            <a:avLst/>
          </a:prstGeom>
          <a:solidFill>
            <a:srgbClr val="F0FDF4"/>
          </a:solidFill>
          <a:ln w="6350">
            <a:solidFill>
              <a:srgbClr val="86EFA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3072384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Validate and handle bad inputs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663440" y="3593592"/>
            <a:ext cx="4206240" cy="457200"/>
          </a:xfrm>
          <a:prstGeom prst="rect">
            <a:avLst/>
          </a:prstGeom>
          <a:solidFill>
            <a:srgbClr val="F0FDF4"/>
          </a:solidFill>
          <a:ln w="6350">
            <a:solidFill>
              <a:srgbClr val="86EFA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363931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Demonstrate OOP concepts in Java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|  System Modules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28346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14400"/>
            <a:ext cx="283464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98755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10058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Management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84048" y="1508760"/>
            <a:ext cx="261518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Employee ID, Name, Department, Designation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46120" y="914400"/>
            <a:ext cx="28346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914400"/>
            <a:ext cx="2834640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19272" y="98755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703320" y="10058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Component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55848" y="1508760"/>
            <a:ext cx="261518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Basic Pay, HRA, DA, TA, Special Allowance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914400"/>
            <a:ext cx="28346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0" y="914400"/>
            <a:ext cx="2834640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91072" y="98755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675120" y="10058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Deduction Calculation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27648" y="1508760"/>
            <a:ext cx="261518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Computes PF (12%), Professional Tax, Other deductions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2926080"/>
            <a:ext cx="28346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2926080"/>
            <a:ext cx="2834640" cy="5029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" y="299923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31520" y="30175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Salary Computation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84048" y="3520440"/>
            <a:ext cx="261518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Salary − Total Deductions = Net Salary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46120" y="2926080"/>
            <a:ext cx="28346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46120" y="2926080"/>
            <a:ext cx="2834640" cy="5029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19272" y="299923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703320" y="30175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Payslip Generation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355848" y="3520440"/>
            <a:ext cx="261518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Formats and displays full employee payslip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217920" y="2926080"/>
            <a:ext cx="28346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217920" y="2926080"/>
            <a:ext cx="2834640" cy="5029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91072" y="299923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675120" y="30175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Module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327648" y="3520440"/>
            <a:ext cx="261518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program termination after processing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|  Salary Calculation Logic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02336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86868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EARNINGS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371600"/>
            <a:ext cx="4023360" cy="457200"/>
          </a:xfrm>
          <a:prstGeom prst="rect">
            <a:avLst/>
          </a:prstGeom>
          <a:solidFill>
            <a:srgbClr val="132438"/>
          </a:solidFill>
          <a:ln w="6350">
            <a:solidFill>
              <a:srgbClr val="1F4E7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41732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Pay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468880" y="141732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(user input)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847088"/>
            <a:ext cx="4023360" cy="457200"/>
          </a:xfrm>
          <a:prstGeom prst="rect">
            <a:avLst/>
          </a:prstGeom>
          <a:solidFill>
            <a:srgbClr val="0D1B2A"/>
          </a:solidFill>
          <a:ln w="6350">
            <a:solidFill>
              <a:srgbClr val="1F4E7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89280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468880" y="1892808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 of Basic Pay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2322576"/>
            <a:ext cx="4023360" cy="457200"/>
          </a:xfrm>
          <a:prstGeom prst="rect">
            <a:avLst/>
          </a:prstGeom>
          <a:solidFill>
            <a:srgbClr val="132438"/>
          </a:solidFill>
          <a:ln w="6350">
            <a:solidFill>
              <a:srgbClr val="1F4E7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368296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468880" y="2368296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of Basic Pay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2798064"/>
            <a:ext cx="4023360" cy="457200"/>
          </a:xfrm>
          <a:prstGeom prst="rect">
            <a:avLst/>
          </a:prstGeom>
          <a:solidFill>
            <a:srgbClr val="0D1B2A"/>
          </a:solidFill>
          <a:ln w="6350">
            <a:solidFill>
              <a:srgbClr val="1F4E7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843784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468880" y="2843784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 of Basic Pay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4320" y="3273552"/>
            <a:ext cx="4023360" cy="457200"/>
          </a:xfrm>
          <a:prstGeom prst="rect">
            <a:avLst/>
          </a:prstGeom>
          <a:solidFill>
            <a:srgbClr val="132438"/>
          </a:solidFill>
          <a:ln w="6350">
            <a:solidFill>
              <a:srgbClr val="1F4E7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31927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Allowance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468880" y="3319272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amount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54880" y="868680"/>
            <a:ext cx="4114800" cy="45720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8686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DEDUCTIONS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754880" y="1371600"/>
            <a:ext cx="4114800" cy="457200"/>
          </a:xfrm>
          <a:prstGeom prst="rect">
            <a:avLst/>
          </a:prstGeom>
          <a:solidFill>
            <a:srgbClr val="2C1A00"/>
          </a:solidFill>
          <a:ln w="6350">
            <a:solidFill>
              <a:srgbClr val="92400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141732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132320" y="141732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 of Basic Pay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754880" y="1847088"/>
            <a:ext cx="4114800" cy="457200"/>
          </a:xfrm>
          <a:prstGeom prst="rect">
            <a:avLst/>
          </a:prstGeom>
          <a:solidFill>
            <a:srgbClr val="1A1000"/>
          </a:solidFill>
          <a:ln w="6350">
            <a:solidFill>
              <a:srgbClr val="92400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1892808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Tax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132320" y="1892808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Slab-based (₹0–₹200)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754880" y="2322576"/>
            <a:ext cx="4114800" cy="457200"/>
          </a:xfrm>
          <a:prstGeom prst="rect">
            <a:avLst/>
          </a:prstGeom>
          <a:solidFill>
            <a:srgbClr val="2C1A00"/>
          </a:solidFill>
          <a:ln w="6350">
            <a:solidFill>
              <a:srgbClr val="92400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92040" y="2368296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Tax (TDS)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132320" y="2368296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per IT slabs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74320" y="3931920"/>
            <a:ext cx="8595360" cy="914400"/>
          </a:xfrm>
          <a:prstGeom prst="rect">
            <a:avLst/>
          </a:prstGeom>
          <a:solidFill>
            <a:srgbClr val="132438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40233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Salary</a:t>
            </a:r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Basic + HRA + DA + TA + Special     </a:t>
            </a:r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Salary</a:t>
            </a:r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Gross Salary − Total Deductions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|  Algorithm &amp; Flowchart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8686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(Simplified)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261872"/>
            <a:ext cx="347472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261872"/>
            <a:ext cx="3474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128016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the program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627632"/>
            <a:ext cx="347472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627632"/>
            <a:ext cx="3474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85800" y="164592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Employee Details (ID, Name, Dept)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1993392"/>
            <a:ext cx="347472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1993392"/>
            <a:ext cx="3474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85800" y="201168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Basic Pay &amp; Special Allowance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359152"/>
            <a:ext cx="347472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359152"/>
            <a:ext cx="3474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85800" y="237744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Compute: HRA=40%, DA=10%, TA=5% of Basic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2724912"/>
            <a:ext cx="347472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2724912"/>
            <a:ext cx="3474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85800" y="274320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Compute: PF=12% of Basic, PT=Slab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3090672"/>
            <a:ext cx="347472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3090672"/>
            <a:ext cx="3474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85800" y="310896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= Basic + HRA + DA + TA + Special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3456432"/>
            <a:ext cx="347472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3456432"/>
            <a:ext cx="3474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85800" y="347472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Deductions = PF + PT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3822192"/>
            <a:ext cx="347472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3822192"/>
            <a:ext cx="3474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85800" y="384048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Salary = Gross − Deductions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74320" y="4187952"/>
            <a:ext cx="347472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4187952"/>
            <a:ext cx="3474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85800" y="420624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formatted Payslip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74320" y="4553712"/>
            <a:ext cx="347472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4320" y="4553712"/>
            <a:ext cx="3474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85800" y="457200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/ Process next employee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663440" y="86868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Flow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5029200" y="1261872"/>
            <a:ext cx="3657600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0" y="1261872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858000" y="1645920"/>
            <a:ext cx="0" cy="73152"/>
          </a:xfrm>
          <a:prstGeom prst="line">
            <a:avLst/>
          </a:prstGeom>
          <a:noFill/>
          <a:ln w="19050">
            <a:solidFill>
              <a:srgbClr val="0D1B2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029200" y="1719072"/>
            <a:ext cx="3657600" cy="384048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29200" y="1719072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Employee Details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858000" y="2103120"/>
            <a:ext cx="0" cy="73152"/>
          </a:xfrm>
          <a:prstGeom prst="line">
            <a:avLst/>
          </a:prstGeom>
          <a:noFill/>
          <a:ln w="19050">
            <a:solidFill>
              <a:srgbClr val="0D1B2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029200" y="2176272"/>
            <a:ext cx="3657600" cy="38404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029200" y="2176272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Payroll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858000" y="2560320"/>
            <a:ext cx="0" cy="73152"/>
          </a:xfrm>
          <a:prstGeom prst="line">
            <a:avLst/>
          </a:prstGeom>
          <a:noFill/>
          <a:ln w="19050">
            <a:solidFill>
              <a:srgbClr val="0D1B2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029200" y="2633472"/>
            <a:ext cx="3657600" cy="384048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029200" y="2633472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Gross &amp; Net Salary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858000" y="3017520"/>
            <a:ext cx="0" cy="73152"/>
          </a:xfrm>
          <a:prstGeom prst="line">
            <a:avLst/>
          </a:prstGeom>
          <a:noFill/>
          <a:ln w="19050">
            <a:solidFill>
              <a:srgbClr val="0D1B2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029200" y="3090672"/>
            <a:ext cx="3657600" cy="384048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029200" y="3090672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Payslip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858000" y="3474720"/>
            <a:ext cx="0" cy="73152"/>
          </a:xfrm>
          <a:prstGeom prst="line">
            <a:avLst/>
          </a:prstGeom>
          <a:noFill/>
          <a:ln w="19050">
            <a:solidFill>
              <a:srgbClr val="0D1B2A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029200" y="3547872"/>
            <a:ext cx="3657600" cy="384048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029200" y="3547872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Another Employee?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6858000" y="3931920"/>
            <a:ext cx="0" cy="73152"/>
          </a:xfrm>
          <a:prstGeom prst="line">
            <a:avLst/>
          </a:prstGeom>
          <a:noFill/>
          <a:ln w="19050">
            <a:solidFill>
              <a:srgbClr val="0D1B2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029200" y="4023360"/>
            <a:ext cx="3657600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029200" y="402336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|  Source Code Highlights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685800"/>
            <a:ext cx="4114800" cy="320040"/>
          </a:xfrm>
          <a:prstGeom prst="rect">
            <a:avLst/>
          </a:prstGeom>
          <a:solidFill>
            <a:srgbClr val="2D2D44"/>
          </a:solidFill>
          <a:ln w="12700">
            <a:solidFill>
              <a:srgbClr val="2D2D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71323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Salary.java  —  Constructor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4114800" cy="2286000"/>
          </a:xfrm>
          <a:prstGeom prst="rect">
            <a:avLst/>
          </a:prstGeom>
          <a:solidFill>
            <a:srgbClr val="12121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51560"/>
            <a:ext cx="38862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Salary(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basicPay) {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this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.basicPay = basicPay;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hra = basicPay * </a:t>
            </a:r>
            <a:pPr indent="0" marL="0">
              <a:buNone/>
            </a:pPr>
            <a:r>
              <a:rPr lang="en-US" sz="11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0.40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  = basicPay * </a:t>
            </a:r>
            <a:pPr indent="0" marL="0">
              <a:buNone/>
            </a:pPr>
            <a:r>
              <a:rPr lang="en-US" sz="11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0.10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ta  = basicPay * </a:t>
            </a:r>
            <a:pPr indent="0" marL="0">
              <a:buNone/>
            </a:pPr>
            <a:r>
              <a:rPr lang="en-US" sz="11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0.05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pf  = basicPay * </a:t>
            </a:r>
            <a:pPr indent="0" marL="0">
              <a:buNone/>
            </a:pPr>
            <a:r>
              <a:rPr lang="en-US" sz="11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0.12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professionalTax = calculatePT();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3383280"/>
            <a:ext cx="4114800" cy="320040"/>
          </a:xfrm>
          <a:prstGeom prst="rect">
            <a:avLst/>
          </a:prstGeom>
          <a:solidFill>
            <a:srgbClr val="2D2D44"/>
          </a:solidFill>
          <a:ln w="12700">
            <a:solidFill>
              <a:srgbClr val="2D2D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341071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 Salary Method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3703320"/>
            <a:ext cx="4114800" cy="1097280"/>
          </a:xfrm>
          <a:prstGeom prst="rect">
            <a:avLst/>
          </a:prstGeom>
          <a:solidFill>
            <a:srgbClr val="12121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3749040"/>
            <a:ext cx="3886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double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getNetSalary() {</a:t>
            </a:r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getGrossSalary()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- getTotalDeductions();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685800"/>
            <a:ext cx="4206240" cy="320040"/>
          </a:xfrm>
          <a:prstGeom prst="rect">
            <a:avLst/>
          </a:prstGeom>
          <a:solidFill>
            <a:srgbClr val="2D2D44"/>
          </a:solidFill>
          <a:ln w="12700">
            <a:solidFill>
              <a:srgbClr val="2D2D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71323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Concepts Applied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1005840"/>
            <a:ext cx="4206240" cy="502920"/>
          </a:xfrm>
          <a:prstGeom prst="rect">
            <a:avLst/>
          </a:prstGeom>
          <a:solidFill>
            <a:srgbClr val="1A1A2E"/>
          </a:solidFill>
          <a:ln w="12700">
            <a:solidFill>
              <a:srgbClr val="2D2D4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1005840"/>
            <a:ext cx="73152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1033272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&amp; Objects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00600" y="1261872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Employee, Salary, PayrollMain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63440" y="1572768"/>
            <a:ext cx="4206240" cy="502920"/>
          </a:xfrm>
          <a:prstGeom prst="rect">
            <a:avLst/>
          </a:prstGeom>
          <a:solidFill>
            <a:srgbClr val="1A1A2E"/>
          </a:solidFill>
          <a:ln w="12700">
            <a:solidFill>
              <a:srgbClr val="2D2D4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3440" y="1572768"/>
            <a:ext cx="73152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160020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00600" y="182880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fields + getters/setters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2139696"/>
            <a:ext cx="4206240" cy="502920"/>
          </a:xfrm>
          <a:prstGeom prst="rect">
            <a:avLst/>
          </a:prstGeom>
          <a:solidFill>
            <a:srgbClr val="1A1A2E"/>
          </a:solidFill>
          <a:ln w="12700">
            <a:solidFill>
              <a:srgbClr val="2D2D4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63440" y="2139696"/>
            <a:ext cx="73152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2167128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00600" y="2395728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calculatePT(), getGrossSalary()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63440" y="2706624"/>
            <a:ext cx="4206240" cy="502920"/>
          </a:xfrm>
          <a:prstGeom prst="rect">
            <a:avLst/>
          </a:prstGeom>
          <a:solidFill>
            <a:srgbClr val="1A1A2E"/>
          </a:solidFill>
          <a:ln w="12700">
            <a:solidFill>
              <a:srgbClr val="2D2D4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63440" y="2706624"/>
            <a:ext cx="73152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0600" y="2734056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00600" y="2962656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base class extendable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63440" y="3273552"/>
            <a:ext cx="4206240" cy="502920"/>
          </a:xfrm>
          <a:prstGeom prst="rect">
            <a:avLst/>
          </a:prstGeom>
          <a:solidFill>
            <a:srgbClr val="1A1A2E"/>
          </a:solidFill>
          <a:ln w="12700">
            <a:solidFill>
              <a:srgbClr val="2D2D4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63440" y="3273552"/>
            <a:ext cx="73152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0600" y="3300984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Handling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00600" y="3529584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input validation (try-catch)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663440" y="3840480"/>
            <a:ext cx="4206240" cy="502920"/>
          </a:xfrm>
          <a:prstGeom prst="rect">
            <a:avLst/>
          </a:prstGeom>
          <a:solidFill>
            <a:srgbClr val="1A1A2E"/>
          </a:solidFill>
          <a:ln w="12700">
            <a:solidFill>
              <a:srgbClr val="2D2D4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663440" y="3840480"/>
            <a:ext cx="73152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00600" y="3867912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&amp; Conditions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800600" y="4096512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do-while menu, if-else for PT slabs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663440" y="4407408"/>
            <a:ext cx="4206240" cy="502920"/>
          </a:xfrm>
          <a:prstGeom prst="rect">
            <a:avLst/>
          </a:prstGeom>
          <a:solidFill>
            <a:srgbClr val="1A1A2E"/>
          </a:solidFill>
          <a:ln w="12700">
            <a:solidFill>
              <a:srgbClr val="2D2D4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663440" y="4407408"/>
            <a:ext cx="73152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00600" y="443484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Scanner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800600" y="466344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 reading from console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|  Sample Output &amp; Payslip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530352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868680"/>
            <a:ext cx="5303520" cy="5486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6868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PAYSLIP — APRIL 2026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508760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 ID: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194560" y="1508760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1764792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194560" y="1764792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Rajesh Kumar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2020824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194560" y="2020824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2276856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Designation: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194560" y="2276856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Engineer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587752"/>
            <a:ext cx="512064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67004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EARNINGS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2962656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Pay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206240" y="2962656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₹50,000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3172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HRA (40%)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206240" y="3172968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₹20,000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" y="338328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(10%)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206240" y="338328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₹5,000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8640" y="3593592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 (5%)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206240" y="3593592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₹2,500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8640" y="3803904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Allowance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206240" y="3803904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₹5,000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3995928"/>
            <a:ext cx="5120640" cy="210312"/>
          </a:xfrm>
          <a:prstGeom prst="rect">
            <a:avLst/>
          </a:prstGeom>
          <a:solidFill>
            <a:srgbClr val="F0FA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4014216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Salary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206240" y="4014216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₹82,500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943600" y="868680"/>
            <a:ext cx="292608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943600" y="868680"/>
            <a:ext cx="2926080" cy="548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43600" y="86868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DEDUCTIONS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035040" y="150876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 (12%)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315200" y="15087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₹6,000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035040" y="187452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Tax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315200" y="18745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₹200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035040" y="22402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Deductions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315200" y="22402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₹6,200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943600" y="2880360"/>
            <a:ext cx="2926080" cy="2011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943600" y="30175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SALARY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5943600" y="342900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₹76,300</a:t>
            </a:r>
            <a:endParaRPr lang="en-US" sz="3400" dirty="0"/>
          </a:p>
        </p:txBody>
      </p:sp>
      <p:sp>
        <p:nvSpPr>
          <p:cNvPr id="43" name="Text 41"/>
          <p:cNvSpPr/>
          <p:nvPr/>
        </p:nvSpPr>
        <p:spPr>
          <a:xfrm>
            <a:off x="5943600" y="42519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Validation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2194560" cy="411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6868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468880" y="868680"/>
            <a:ext cx="2286000" cy="411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68880" y="8686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868680"/>
            <a:ext cx="2651760" cy="411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86868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Output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406640" y="868680"/>
            <a:ext cx="1371600" cy="411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06640" y="86868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1280160"/>
            <a:ext cx="21945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13258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Employee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468880" y="1280160"/>
            <a:ext cx="22860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14600" y="13258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ID=1001, Name=Rajesh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1280160"/>
            <a:ext cx="26517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1325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record created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406640" y="1280160"/>
            <a:ext cx="1371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52360" y="132588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Pass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1755648"/>
            <a:ext cx="2194560" cy="457200"/>
          </a:xfrm>
          <a:prstGeom prst="rect">
            <a:avLst/>
          </a:prstGeom>
          <a:solidFill>
            <a:srgbClr val="EBF5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1801368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Pay Entry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68880" y="1755648"/>
            <a:ext cx="2286000" cy="457200"/>
          </a:xfrm>
          <a:prstGeom prst="rect">
            <a:avLst/>
          </a:prstGeom>
          <a:solidFill>
            <a:srgbClr val="EBF5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14600" y="1801368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= ₹50,000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1755648"/>
            <a:ext cx="2651760" cy="457200"/>
          </a:xfrm>
          <a:prstGeom prst="rect">
            <a:avLst/>
          </a:prstGeom>
          <a:solidFill>
            <a:srgbClr val="EBF5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180136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HRA=20k, DA=5k, TA=2.5k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406640" y="1755648"/>
            <a:ext cx="1371600" cy="457200"/>
          </a:xfrm>
          <a:prstGeom prst="rect">
            <a:avLst/>
          </a:prstGeom>
          <a:solidFill>
            <a:srgbClr val="EBF5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52360" y="1801368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Pass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74320" y="2231136"/>
            <a:ext cx="21945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2276856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 Calculation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468880" y="2231136"/>
            <a:ext cx="22860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514600" y="2276856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= ₹50,000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754880" y="2231136"/>
            <a:ext cx="26517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00600" y="2276856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 = ₹6,000 (12%)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406640" y="2231136"/>
            <a:ext cx="1371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452360" y="2276856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Pass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74320" y="2706624"/>
            <a:ext cx="2194560" cy="457200"/>
          </a:xfrm>
          <a:prstGeom prst="rect">
            <a:avLst/>
          </a:prstGeom>
          <a:solidFill>
            <a:srgbClr val="EBF5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" y="2752344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 Slab (&gt;20k)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2468880" y="2706624"/>
            <a:ext cx="2286000" cy="457200"/>
          </a:xfrm>
          <a:prstGeom prst="rect">
            <a:avLst/>
          </a:prstGeom>
          <a:solidFill>
            <a:srgbClr val="EBF5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514600" y="2752344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= ₹50,000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754880" y="2706624"/>
            <a:ext cx="2651760" cy="457200"/>
          </a:xfrm>
          <a:prstGeom prst="rect">
            <a:avLst/>
          </a:prstGeom>
          <a:solidFill>
            <a:srgbClr val="EBF5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00600" y="2752344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 = ₹200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7406640" y="2706624"/>
            <a:ext cx="1371600" cy="457200"/>
          </a:xfrm>
          <a:prstGeom prst="rect">
            <a:avLst/>
          </a:prstGeom>
          <a:solidFill>
            <a:srgbClr val="EBF5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52360" y="2752344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Pass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274320" y="3182112"/>
            <a:ext cx="21945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20040" y="3227832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Salary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2468880" y="3182112"/>
            <a:ext cx="22860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514600" y="322783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Gross=82.5k, Ded=6.2k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754880" y="3182112"/>
            <a:ext cx="26517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00600" y="322783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= ₹76,300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7406640" y="3182112"/>
            <a:ext cx="1371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452360" y="3227832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Pass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274320" y="3657600"/>
            <a:ext cx="2194560" cy="457200"/>
          </a:xfrm>
          <a:prstGeom prst="rect">
            <a:avLst/>
          </a:prstGeom>
          <a:solidFill>
            <a:srgbClr val="EBF5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20040" y="37033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Input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2468880" y="3657600"/>
            <a:ext cx="2286000" cy="457200"/>
          </a:xfrm>
          <a:prstGeom prst="rect">
            <a:avLst/>
          </a:prstGeom>
          <a:solidFill>
            <a:srgbClr val="EBF5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514600" y="37033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salary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4754880" y="3657600"/>
            <a:ext cx="2651760" cy="457200"/>
          </a:xfrm>
          <a:prstGeom prst="rect">
            <a:avLst/>
          </a:prstGeom>
          <a:solidFill>
            <a:srgbClr val="EBF5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800600" y="37033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message shown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7406640" y="3657600"/>
            <a:ext cx="1371600" cy="457200"/>
          </a:xfrm>
          <a:prstGeom prst="rect">
            <a:avLst/>
          </a:prstGeom>
          <a:solidFill>
            <a:srgbClr val="EBF5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452360" y="370332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Pass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274320" y="4133088"/>
            <a:ext cx="21945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20040" y="4178808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Payslip Display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2468880" y="4133088"/>
            <a:ext cx="22860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514600" y="4178808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employee data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4754880" y="4133088"/>
            <a:ext cx="26517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800600" y="417880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Formatted payslip printed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7406640" y="4133088"/>
            <a:ext cx="1371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452360" y="4178808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Pass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9120" cy="5143500"/>
          </a:xfrm>
          <a:prstGeom prst="rect">
            <a:avLst/>
          </a:prstGeom>
          <a:solidFill>
            <a:srgbClr val="132438"/>
          </a:solidFill>
          <a:ln w="12700">
            <a:solidFill>
              <a:srgbClr val="1324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38912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286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87782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automates salary computation for organizations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74320" y="1508760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47218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HRA, DA, TA allowances and PF, PT deductions accurately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74320" y="2103120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06654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clear, professional payslips for employees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74320" y="2697480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66090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core OOP concepts: Encapsulation, Classes, Methods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74320" y="3291840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325526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manual errors and saves HR processing time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74320" y="3886200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384962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through comprehensive test cases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663440" y="22860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4663440" y="822960"/>
            <a:ext cx="4206240" cy="594360"/>
          </a:xfrm>
          <a:prstGeom prst="rect">
            <a:avLst/>
          </a:prstGeom>
          <a:solidFill>
            <a:srgbClr val="132438"/>
          </a:solidFill>
          <a:ln w="6350">
            <a:solidFill>
              <a:srgbClr val="1F4E7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3440" y="822960"/>
            <a:ext cx="73152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850392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(JDBC)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00600" y="1078992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storage for payroll history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1481328"/>
            <a:ext cx="4206240" cy="594360"/>
          </a:xfrm>
          <a:prstGeom prst="rect">
            <a:avLst/>
          </a:prstGeom>
          <a:solidFill>
            <a:srgbClr val="132438"/>
          </a:solidFill>
          <a:ln w="6350">
            <a:solidFill>
              <a:srgbClr val="1F4E7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63440" y="1481328"/>
            <a:ext cx="73152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150876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Swing / JavaFX GUI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00600" y="173736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Graphical interface for easier use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63440" y="2139696"/>
            <a:ext cx="4206240" cy="594360"/>
          </a:xfrm>
          <a:prstGeom prst="rect">
            <a:avLst/>
          </a:prstGeom>
          <a:solidFill>
            <a:srgbClr val="132438"/>
          </a:solidFill>
          <a:ln w="6350">
            <a:solidFill>
              <a:srgbClr val="1F4E7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63440" y="2139696"/>
            <a:ext cx="73152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0600" y="2167128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Payslip Export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00600" y="2395728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&amp; email payslip as PDF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63440" y="2798064"/>
            <a:ext cx="4206240" cy="594360"/>
          </a:xfrm>
          <a:prstGeom prst="rect">
            <a:avLst/>
          </a:prstGeom>
          <a:solidFill>
            <a:srgbClr val="132438"/>
          </a:solidFill>
          <a:ln w="6350">
            <a:solidFill>
              <a:srgbClr val="1F4E7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63440" y="2798064"/>
            <a:ext cx="73152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0600" y="2825496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Multi-month History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00600" y="3054096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and view past payroll records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663440" y="3456432"/>
            <a:ext cx="4206240" cy="594360"/>
          </a:xfrm>
          <a:prstGeom prst="rect">
            <a:avLst/>
          </a:prstGeom>
          <a:solidFill>
            <a:srgbClr val="132438"/>
          </a:solidFill>
          <a:ln w="6350">
            <a:solidFill>
              <a:srgbClr val="1F4E7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663440" y="3456432"/>
            <a:ext cx="73152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00600" y="3483864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Integration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800600" y="3712464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salary to attendance records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663440" y="4114800"/>
            <a:ext cx="4206240" cy="594360"/>
          </a:xfrm>
          <a:prstGeom prst="rect">
            <a:avLst/>
          </a:prstGeom>
          <a:solidFill>
            <a:srgbClr val="132438"/>
          </a:solidFill>
          <a:ln w="6350">
            <a:solidFill>
              <a:srgbClr val="1F4E7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663440" y="4114800"/>
            <a:ext cx="73152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00600" y="4142232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Calculator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800600" y="4370832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income tax computation with slabs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"/>
          <p:cNvSpPr/>
          <p:nvPr/>
        </p:nvSpPr>
        <p:spPr>
          <a:xfrm>
            <a:off x="0" y="0"/>
            <a:ext cx="183000" cy="51435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"/>
          <p:cNvSpPr/>
          <p:nvPr/>
        </p:nvSpPr>
        <p:spPr>
          <a:xfrm>
            <a:off x="8961120" y="0"/>
            <a:ext cx="183000" cy="51435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"/>
          <p:cNvSpPr/>
          <p:nvPr/>
        </p:nvSpPr>
        <p:spPr>
          <a:xfrm>
            <a:off x="0" y="0"/>
            <a:ext cx="9144000" cy="91500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"/>
          <p:cNvSpPr/>
          <p:nvPr/>
        </p:nvSpPr>
        <p:spPr>
          <a:xfrm>
            <a:off x="0" y="5052060"/>
            <a:ext cx="9144000" cy="91500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"/>
          <p:cNvSpPr/>
          <p:nvPr/>
        </p:nvSpPr>
        <p:spPr>
          <a:xfrm>
            <a:off x="457200" y="1097280"/>
            <a:ext cx="82296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Calibri"/>
              <a:buNone/>
            </a:pPr>
            <a:r>
              <a:rPr b="1" i="0" lang="en-US" sz="5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Thank You!</a:t>
            </a:r>
            <a:endParaRPr b="0" i="0" sz="5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2"/>
          <p:cNvSpPr/>
          <p:nvPr/>
        </p:nvSpPr>
        <p:spPr>
          <a:xfrm>
            <a:off x="3200400" y="2194560"/>
            <a:ext cx="2743200" cy="549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2"/>
          <p:cNvSpPr/>
          <p:nvPr/>
        </p:nvSpPr>
        <p:spPr>
          <a:xfrm>
            <a:off x="457200" y="2377440"/>
            <a:ext cx="8229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Salary Payroll Processing &amp; Payslip Generation System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2"/>
          <p:cNvSpPr/>
          <p:nvPr/>
        </p:nvSpPr>
        <p:spPr>
          <a:xfrm>
            <a:off x="457200" y="292608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Presented by: </a:t>
            </a: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HARIHARAN D </a:t>
            </a: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 |  Guided by: </a:t>
            </a: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ARAVIND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2"/>
          <p:cNvSpPr/>
          <p:nvPr/>
        </p:nvSpPr>
        <p:spPr>
          <a:xfrm>
            <a:off x="457200" y="3383280"/>
            <a:ext cx="8229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KG College of Arts and Science  |  April 2026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2"/>
          <p:cNvSpPr/>
          <p:nvPr/>
        </p:nvSpPr>
        <p:spPr>
          <a:xfrm>
            <a:off x="1371600" y="3840480"/>
            <a:ext cx="6400800" cy="914400"/>
          </a:xfrm>
          <a:prstGeom prst="rect">
            <a:avLst/>
          </a:prstGeom>
          <a:solidFill>
            <a:srgbClr val="13243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2"/>
          <p:cNvSpPr/>
          <p:nvPr/>
        </p:nvSpPr>
        <p:spPr>
          <a:xfrm>
            <a:off x="1463040" y="3913632"/>
            <a:ext cx="6217800" cy="76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💡 Ready for Questions!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Topics: OOP concepts  |  Salary formulas  |  Java classes  |  Test cases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